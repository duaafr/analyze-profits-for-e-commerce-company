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2" r:id="rId5"/>
    <p:sldId id="264" r:id="rId6"/>
    <p:sldId id="260" r:id="rId7"/>
    <p:sldId id="263" r:id="rId8"/>
    <p:sldId id="266" r:id="rId9"/>
    <p:sldId id="267" r:id="rId10"/>
    <p:sldId id="261" r:id="rId11"/>
  </p:sldIdLst>
  <p:sldSz cx="18288000" cy="10287000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bold r:id="rId18"/>
      <p:italic r:id="rId19"/>
      <p:boldItalic r:id="rId20"/>
    </p:embeddedFont>
    <p:embeddedFont>
      <p:font typeface="Roboto Mono Light" panose="00000009000000000000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04" y="5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aaf\Downloads\analyze-profits-for-ecommerce-company-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aaf\Downloads\analyze-profits-for-ecommerce-company-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aaf\Downloads\analyze-profits-for-ecommerce-company-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[analyze-profits-for-ecommerce-company-dataset.xlsx]Analysis!PivotTable12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Net Sales Trend (2024 vs 2025)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Analysis!$B$3:$B$4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Analysis!$A$5:$A$17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Analysis!$B$5:$B$17</c:f>
              <c:numCache>
                <c:formatCode>General</c:formatCode>
                <c:ptCount val="12"/>
                <c:pt idx="0">
                  <c:v>67968.83</c:v>
                </c:pt>
                <c:pt idx="1">
                  <c:v>52966.62000000001</c:v>
                </c:pt>
                <c:pt idx="2">
                  <c:v>55756.970000000016</c:v>
                </c:pt>
                <c:pt idx="3">
                  <c:v>55429.220000000016</c:v>
                </c:pt>
                <c:pt idx="4">
                  <c:v>57305.18</c:v>
                </c:pt>
                <c:pt idx="5">
                  <c:v>59788.56</c:v>
                </c:pt>
                <c:pt idx="6">
                  <c:v>58349.25</c:v>
                </c:pt>
                <c:pt idx="7">
                  <c:v>60709.840000000011</c:v>
                </c:pt>
                <c:pt idx="8">
                  <c:v>65533.869999999995</c:v>
                </c:pt>
                <c:pt idx="9">
                  <c:v>70224.86</c:v>
                </c:pt>
                <c:pt idx="10">
                  <c:v>48235.100000000013</c:v>
                </c:pt>
                <c:pt idx="11">
                  <c:v>64497.169999999984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78-49BA-87D6-B576560BA44D}"/>
            </c:ext>
          </c:extLst>
        </c:ser>
        <c:ser>
          <c:idx val="1"/>
          <c:order val="1"/>
          <c:tx>
            <c:strRef>
              <c:f>Analysis!$C$3:$C$4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Analysis!$A$5:$A$17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Analysis!$C$5:$C$17</c:f>
              <c:numCache>
                <c:formatCode>General</c:formatCode>
                <c:ptCount val="12"/>
                <c:pt idx="0">
                  <c:v>63068.100000000006</c:v>
                </c:pt>
                <c:pt idx="1">
                  <c:v>50910.720000000008</c:v>
                </c:pt>
                <c:pt idx="2">
                  <c:v>63397.099999999977</c:v>
                </c:pt>
                <c:pt idx="3">
                  <c:v>65832.400000000009</c:v>
                </c:pt>
                <c:pt idx="4">
                  <c:v>64291.96</c:v>
                </c:pt>
                <c:pt idx="5">
                  <c:v>56920.560000000005</c:v>
                </c:pt>
                <c:pt idx="6">
                  <c:v>73444.380000000019</c:v>
                </c:pt>
                <c:pt idx="7">
                  <c:v>62057.76999999999</c:v>
                </c:pt>
                <c:pt idx="8">
                  <c:v>66704.10000000002</c:v>
                </c:pt>
                <c:pt idx="9">
                  <c:v>72541.66</c:v>
                </c:pt>
                <c:pt idx="10">
                  <c:v>73094.140000000014</c:v>
                </c:pt>
                <c:pt idx="11">
                  <c:v>66734.539999999994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78-49BA-87D6-B576560BA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5692608"/>
        <c:axId val="1125693088"/>
      </c:lineChart>
      <c:catAx>
        <c:axId val="11256926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693088"/>
        <c:crosses val="autoZero"/>
        <c:auto val="1"/>
        <c:lblAlgn val="ctr"/>
        <c:lblOffset val="100"/>
        <c:noMultiLvlLbl val="0"/>
      </c:catAx>
      <c:valAx>
        <c:axId val="1125693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Net 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692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Growth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Products!$B$12:$B$13</c:f>
              <c:strCache>
                <c:ptCount val="2"/>
                <c:pt idx="0">
                  <c:v>Growth</c:v>
                </c:pt>
                <c:pt idx="1">
                  <c:v>Units 2024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Products!$A$14:$A$16</c:f>
              <c:strCache>
                <c:ptCount val="3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</c:strCache>
              <c:extLst/>
            </c:strRef>
          </c:cat>
          <c:val>
            <c:numRef>
              <c:f>Products!$B$14:$B$16</c:f>
              <c:numCache>
                <c:formatCode>General</c:formatCode>
                <c:ptCount val="3"/>
                <c:pt idx="0">
                  <c:v>33816</c:v>
                </c:pt>
                <c:pt idx="1">
                  <c:v>3634</c:v>
                </c:pt>
                <c:pt idx="2">
                  <c:v>80456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C280-4EA7-A8E9-2EADBCBA587A}"/>
            </c:ext>
          </c:extLst>
        </c:ser>
        <c:ser>
          <c:idx val="1"/>
          <c:order val="1"/>
          <c:tx>
            <c:strRef>
              <c:f>Products!$C$12:$C$13</c:f>
              <c:strCache>
                <c:ptCount val="2"/>
                <c:pt idx="0">
                  <c:v>Growth</c:v>
                </c:pt>
                <c:pt idx="1">
                  <c:v>Units 2025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Products!$A$14:$A$16</c:f>
              <c:strCache>
                <c:ptCount val="3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</c:strCache>
              <c:extLst/>
            </c:strRef>
          </c:cat>
          <c:val>
            <c:numRef>
              <c:f>Products!$C$14:$C$16</c:f>
              <c:numCache>
                <c:formatCode>General</c:formatCode>
                <c:ptCount val="3"/>
                <c:pt idx="0">
                  <c:v>37844</c:v>
                </c:pt>
                <c:pt idx="1">
                  <c:v>2798</c:v>
                </c:pt>
                <c:pt idx="2">
                  <c:v>88872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C280-4EA7-A8E9-2EADBCBA58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5733888"/>
        <c:axId val="1125727648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Products!$D$12:$D$13</c15:sqref>
                        </c15:formulaRef>
                      </c:ext>
                    </c:extLst>
                    <c:strCache>
                      <c:ptCount val="2"/>
                      <c:pt idx="0">
                        <c:v>Growth</c:v>
                      </c:pt>
                      <c:pt idx="1">
                        <c:v>Growth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strRef>
                    <c:extLst>
                      <c:ext uri="{02D57815-91ED-43cb-92C2-25804820EDAC}">
                        <c15:formulaRef>
                          <c15:sqref>Products!$A$14:$A$16</c15:sqref>
                        </c15:formulaRef>
                      </c:ext>
                    </c:extLst>
                    <c:strCache>
                      <c:ptCount val="3"/>
                      <c:pt idx="0">
                        <c:v>Product 1</c:v>
                      </c:pt>
                      <c:pt idx="1">
                        <c:v>Product 2</c:v>
                      </c:pt>
                      <c:pt idx="2">
                        <c:v>Product 3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Products!$D$14:$D$16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4028</c:v>
                      </c:pt>
                      <c:pt idx="1">
                        <c:v>-836</c:v>
                      </c:pt>
                      <c:pt idx="2">
                        <c:v>8416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C280-4EA7-A8E9-2EADBCBA587A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Products!$E$12:$E$13</c15:sqref>
                        </c15:formulaRef>
                      </c:ext>
                    </c:extLst>
                    <c:strCache>
                      <c:ptCount val="2"/>
                      <c:pt idx="0">
                        <c:v>Growth</c:v>
                      </c:pt>
                      <c:pt idx="1">
                        <c:v>Growth %</c:v>
                      </c:pt>
                    </c:strCache>
                  </c:strRef>
                </c:tx>
                <c:spPr>
                  <a:ln w="28575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6">
                        <a:lumMod val="60000"/>
                      </a:schemeClr>
                    </a:solidFill>
                    <a:ln w="9525">
                      <a:solidFill>
                        <a:schemeClr val="accent6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Products!$A$14:$A$16</c15:sqref>
                        </c15:formulaRef>
                      </c:ext>
                    </c:extLst>
                    <c:strCache>
                      <c:ptCount val="3"/>
                      <c:pt idx="0">
                        <c:v>Product 1</c:v>
                      </c:pt>
                      <c:pt idx="1">
                        <c:v>Product 2</c:v>
                      </c:pt>
                      <c:pt idx="2">
                        <c:v>Product 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Products!$E$14:$E$16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0.11911521173409037</c:v>
                      </c:pt>
                      <c:pt idx="1">
                        <c:v>-0.23004953219592736</c:v>
                      </c:pt>
                      <c:pt idx="2">
                        <c:v>0.10460375857611613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C280-4EA7-A8E9-2EADBCBA587A}"/>
                  </c:ext>
                </c:extLst>
              </c15:ser>
            </c15:filteredLineSeries>
          </c:ext>
        </c:extLst>
      </c:lineChart>
      <c:catAx>
        <c:axId val="112573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727648"/>
        <c:crosses val="autoZero"/>
        <c:auto val="1"/>
        <c:lblAlgn val="ctr"/>
        <c:lblOffset val="100"/>
        <c:noMultiLvlLbl val="0"/>
      </c:catAx>
      <c:valAx>
        <c:axId val="1125727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Quantity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7338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Average</a:t>
            </a:r>
            <a:r>
              <a:rPr lang="en-US" b="1" baseline="0"/>
              <a:t> Daily Profit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Products!$H$2</c:f>
              <c:strCache>
                <c:ptCount val="1"/>
                <c:pt idx="0">
                  <c:v>AVG 2024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Products!$G$3:$G$5</c:f>
              <c:strCache>
                <c:ptCount val="3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</c:strCache>
            </c:strRef>
          </c:cat>
          <c:val>
            <c:numRef>
              <c:f>Products!$H$3:$H$5</c:f>
              <c:numCache>
                <c:formatCode>0.00</c:formatCode>
                <c:ptCount val="3"/>
                <c:pt idx="0">
                  <c:v>362.92725409836072</c:v>
                </c:pt>
                <c:pt idx="1">
                  <c:v>63.489180327868844</c:v>
                </c:pt>
                <c:pt idx="2">
                  <c:v>62.904453551912567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1-4A70-A97C-AB24194D0DDD}"/>
            </c:ext>
          </c:extLst>
        </c:ser>
        <c:ser>
          <c:idx val="1"/>
          <c:order val="1"/>
          <c:tx>
            <c:strRef>
              <c:f>Products!$I$2</c:f>
              <c:strCache>
                <c:ptCount val="1"/>
                <c:pt idx="0">
                  <c:v>AVG 2025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Products!$G$3:$G$5</c:f>
              <c:strCache>
                <c:ptCount val="3"/>
                <c:pt idx="0">
                  <c:v>Product 1</c:v>
                </c:pt>
                <c:pt idx="1">
                  <c:v>Product 2</c:v>
                </c:pt>
                <c:pt idx="2">
                  <c:v>Product 3</c:v>
                </c:pt>
              </c:strCache>
            </c:strRef>
          </c:cat>
          <c:val>
            <c:numRef>
              <c:f>Products!$I$3:$I$5</c:f>
              <c:numCache>
                <c:formatCode>0.00</c:formatCode>
                <c:ptCount val="3"/>
                <c:pt idx="0">
                  <c:v>422.95264383561653</c:v>
                </c:pt>
                <c:pt idx="1">
                  <c:v>83.365945205479434</c:v>
                </c:pt>
                <c:pt idx="2">
                  <c:v>38.914191780821916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51-4A70-A97C-AB24194D0D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89945119"/>
        <c:axId val="1289949919"/>
      </c:barChart>
      <c:catAx>
        <c:axId val="1289945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949919"/>
        <c:crosses val="autoZero"/>
        <c:auto val="1"/>
        <c:lblAlgn val="ctr"/>
        <c:lblOffset val="100"/>
        <c:noMultiLvlLbl val="0"/>
      </c:catAx>
      <c:valAx>
        <c:axId val="1289949919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945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05b2e72063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bd6c02d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bd6c02d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4A79B751-90FE-0C70-5531-5DDD196D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>
            <a:extLst>
              <a:ext uri="{FF2B5EF4-FFF2-40B4-BE49-F238E27FC236}">
                <a16:creationId xmlns:a16="http://schemas.microsoft.com/office/drawing/2014/main" id="{4F6E6145-9434-6483-637A-309F8E73D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>
            <a:extLst>
              <a:ext uri="{FF2B5EF4-FFF2-40B4-BE49-F238E27FC236}">
                <a16:creationId xmlns:a16="http://schemas.microsoft.com/office/drawing/2014/main" id="{3A088B97-5FD9-898E-E593-59D8BDFF9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641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BB22449D-BC53-5815-F831-3F474C1E4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>
            <a:extLst>
              <a:ext uri="{FF2B5EF4-FFF2-40B4-BE49-F238E27FC236}">
                <a16:creationId xmlns:a16="http://schemas.microsoft.com/office/drawing/2014/main" id="{04E79E9E-C5F2-B705-6C7A-110ED3DE12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>
            <a:extLst>
              <a:ext uri="{FF2B5EF4-FFF2-40B4-BE49-F238E27FC236}">
                <a16:creationId xmlns:a16="http://schemas.microsoft.com/office/drawing/2014/main" id="{C4239878-60CB-46B3-3079-CE682F862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787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1d5f8f2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1d5f8f2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DF12F3A-B7EA-E84C-2FD5-CAD97F89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1d5f8f29_0_1:notes">
            <a:extLst>
              <a:ext uri="{FF2B5EF4-FFF2-40B4-BE49-F238E27FC236}">
                <a16:creationId xmlns:a16="http://schemas.microsoft.com/office/drawing/2014/main" id="{33375AEB-AEF3-32D6-111A-521881957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1d5f8f29_0_1:notes">
            <a:extLst>
              <a:ext uri="{FF2B5EF4-FFF2-40B4-BE49-F238E27FC236}">
                <a16:creationId xmlns:a16="http://schemas.microsoft.com/office/drawing/2014/main" id="{A768D498-AA2A-A905-43F8-CB9716006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325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987B8B8F-8650-2612-2E11-9FA4A2D79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1d5f8f29_0_1:notes">
            <a:extLst>
              <a:ext uri="{FF2B5EF4-FFF2-40B4-BE49-F238E27FC236}">
                <a16:creationId xmlns:a16="http://schemas.microsoft.com/office/drawing/2014/main" id="{189AA6A7-7E94-234B-AAFC-FCC2EE4B5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1d5f8f29_0_1:notes">
            <a:extLst>
              <a:ext uri="{FF2B5EF4-FFF2-40B4-BE49-F238E27FC236}">
                <a16:creationId xmlns:a16="http://schemas.microsoft.com/office/drawing/2014/main" id="{BBB713C6-0088-97B4-E312-ADAD5223C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854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E1F2770-2F49-FFC2-BD0D-8CE7B2C2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1d5f8f29_0_1:notes">
            <a:extLst>
              <a:ext uri="{FF2B5EF4-FFF2-40B4-BE49-F238E27FC236}">
                <a16:creationId xmlns:a16="http://schemas.microsoft.com/office/drawing/2014/main" id="{D1ACEE96-01C6-951F-34CB-0C764F9FF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1d5f8f29_0_1:notes">
            <a:extLst>
              <a:ext uri="{FF2B5EF4-FFF2-40B4-BE49-F238E27FC236}">
                <a16:creationId xmlns:a16="http://schemas.microsoft.com/office/drawing/2014/main" id="{54AF180B-5C6C-23B9-A0D7-DB8ABEF68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327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01d5f8f2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01d5f8f2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a Lesson Title ">
  <p:cSld name="TITLE_1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t="3419" b="-340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t="3419" b="-340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w="9525" cap="flat" cmpd="sng">
              <a:solidFill>
                <a:srgbClr val="171A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a Full Bullet">
  <p:cSld name="TITLE_AND_BODY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g Full Graphic">
  <p:cSld name="TITLE_ONLY_1_1_1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b Third Card">
  <p:cSld name="TITLE_AND_BODY_1_1_1_3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name="adj" fmla="val 28421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endParaRPr sz="2600" b="1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ubTitle" idx="2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c Half Card">
  <p:cSld name="TITLE_AND_BODY_1_1_1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2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e Dual Card">
  <p:cSld name="CUSTOM_1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rot="-5400000" flipH="1">
            <a:off x="846450" y="495600"/>
            <a:ext cx="7786200" cy="81378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ubTitle" idx="2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3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4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f Triple Card ">
  <p:cSld name="CUSTOM_1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name="adj" fmla="val 22136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1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2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3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4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5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6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 b="1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de">
  <p:cSld name="TITLE_AND_BODY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>
            <a:spLocks noGrp="1"/>
          </p:cNvSpPr>
          <p:nvPr>
            <p:ph type="body" idx="1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Dual Code">
  <p:cSld name="TITLE_AND_BODY_1_1_1_1_2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dist="238125" dir="5400000" algn="bl" rotWithShape="0">
              <a:srgbClr val="000000">
                <a:alpha val="25000"/>
              </a:srgbClr>
            </a:outerShdw>
          </a:effectLst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>
            <a:spLocks noGrp="1"/>
          </p:cNvSpPr>
          <p:nvPr>
            <p:ph type="body" idx="1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marL="914400" lvl="1" indent="-4191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marL="1371600" lvl="2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marL="1828800" lvl="3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marL="2286000" lvl="4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marL="2743200" lvl="5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marL="3200400" lvl="6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marL="3657600" lvl="7" indent="-381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marL="4114800" lvl="8" indent="-3810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Quote Full Card">
  <p:cSld name="CUSTOM_1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name="adj1" fmla="val 20143"/>
              <a:gd name="adj2" fmla="val 0"/>
            </a:avLst>
          </a:prstGeom>
          <a:solidFill>
            <a:srgbClr val="F0F0F0"/>
          </a:solidFill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533400" algn="ctr" rtl="0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419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 rtl="0">
              <a:buNone/>
              <a:defRPr sz="2000">
                <a:solidFill>
                  <a:schemeClr val="dk2"/>
                </a:solidFill>
              </a:defRPr>
            </a:lvl1pPr>
            <a:lvl2pPr lvl="1" algn="r" rtl="0">
              <a:buNone/>
              <a:defRPr sz="2000">
                <a:solidFill>
                  <a:schemeClr val="dk2"/>
                </a:solidFill>
              </a:defRPr>
            </a:lvl2pPr>
            <a:lvl3pPr lvl="2" algn="r" rtl="0">
              <a:buNone/>
              <a:defRPr sz="2000">
                <a:solidFill>
                  <a:schemeClr val="dk2"/>
                </a:solidFill>
              </a:defRPr>
            </a:lvl3pPr>
            <a:lvl4pPr lvl="3" algn="r" rtl="0">
              <a:buNone/>
              <a:defRPr sz="2000">
                <a:solidFill>
                  <a:schemeClr val="dk2"/>
                </a:solidFill>
              </a:defRPr>
            </a:lvl4pPr>
            <a:lvl5pPr lvl="4" algn="r" rtl="0">
              <a:buNone/>
              <a:defRPr sz="2000">
                <a:solidFill>
                  <a:schemeClr val="dk2"/>
                </a:solidFill>
              </a:defRPr>
            </a:lvl5pPr>
            <a:lvl6pPr lvl="5" algn="r" rtl="0">
              <a:buNone/>
              <a:defRPr sz="2000">
                <a:solidFill>
                  <a:schemeClr val="dk2"/>
                </a:solidFill>
              </a:defRPr>
            </a:lvl6pPr>
            <a:lvl7pPr lvl="6" algn="r" rtl="0">
              <a:buNone/>
              <a:defRPr sz="2000">
                <a:solidFill>
                  <a:schemeClr val="dk2"/>
                </a:solidFill>
              </a:defRPr>
            </a:lvl7pPr>
            <a:lvl8pPr lvl="7" algn="r" rtl="0">
              <a:buNone/>
              <a:defRPr sz="2000">
                <a:solidFill>
                  <a:schemeClr val="dk2"/>
                </a:solidFill>
              </a:defRPr>
            </a:lvl8pPr>
            <a:lvl9pPr lvl="8" algn="r" rtl="0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>
            <a:spLocks noGrp="1"/>
          </p:cNvSpPr>
          <p:nvPr>
            <p:ph type="ctrTitle"/>
          </p:nvPr>
        </p:nvSpPr>
        <p:spPr>
          <a:xfrm>
            <a:off x="1225200" y="2813950"/>
            <a:ext cx="10070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Analysis of Profits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 sz="4500"/>
              <a:t>Ecommerce Company</a:t>
            </a:r>
            <a:endParaRPr sz="450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1256200" y="7559875"/>
            <a:ext cx="146304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lang="en" b="1" dirty="0"/>
              <a:t>Consultant: </a:t>
            </a:r>
            <a:r>
              <a:rPr lang="en-US" b="1" dirty="0"/>
              <a:t>Duaa Alanazi</a:t>
            </a:r>
            <a:endParaRPr b="1" dirty="0"/>
          </a:p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endParaRPr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914400" lvl="0" indent="-723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Company Financials</a:t>
            </a:r>
            <a:endParaRPr sz="4200" dirty="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Product Performance</a:t>
            </a:r>
            <a:endParaRPr sz="4200" dirty="0"/>
          </a:p>
          <a:p>
            <a:pPr marL="914400" lvl="0" indent="-723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 dirty="0"/>
              <a:t>Recommendation</a:t>
            </a:r>
            <a:endParaRPr sz="3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Company Financials</a:t>
            </a:r>
            <a:endParaRPr sz="6400" dirty="0"/>
          </a:p>
        </p:txBody>
      </p:sp>
      <p:sp>
        <p:nvSpPr>
          <p:cNvPr id="130" name="Google Shape;130;p16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800" b="1" dirty="0"/>
              <a:t>Summary (2024 vs 2025):</a:t>
            </a:r>
            <a:endParaRPr lang="en-US" sz="2800" dirty="0"/>
          </a:p>
          <a:p>
            <a:r>
              <a:rPr lang="en-US" sz="2400" b="1" dirty="0"/>
              <a:t>Net Sales</a:t>
            </a:r>
            <a:r>
              <a:rPr lang="en-US" sz="2400" dirty="0"/>
              <a:t> increased from </a:t>
            </a:r>
            <a:r>
              <a:rPr lang="en-US" sz="2400" b="1" dirty="0"/>
              <a:t>$716,765 in 2024</a:t>
            </a:r>
            <a:r>
              <a:rPr lang="en-US" sz="2400" dirty="0"/>
              <a:t> to </a:t>
            </a:r>
            <a:r>
              <a:rPr lang="en-US" sz="2400" b="1" dirty="0"/>
              <a:t>$778,997 in 2025</a:t>
            </a:r>
            <a:r>
              <a:rPr lang="en-US" sz="2400" dirty="0"/>
              <a:t> (</a:t>
            </a:r>
            <a:r>
              <a:rPr lang="en-US" sz="2400" b="1" dirty="0"/>
              <a:t>+8.7%</a:t>
            </a:r>
            <a:r>
              <a:rPr lang="en-US" sz="2400" dirty="0"/>
              <a:t>), indicating overall sales growth.</a:t>
            </a:r>
          </a:p>
          <a:p>
            <a:r>
              <a:rPr lang="en-US" sz="2400" b="1" dirty="0"/>
              <a:t>Gross Profit</a:t>
            </a:r>
            <a:r>
              <a:rPr lang="en-US" sz="2400" dirty="0"/>
              <a:t> rose slightly from </a:t>
            </a:r>
            <a:r>
              <a:rPr lang="en-US" sz="2400" b="1" dirty="0"/>
              <a:t>$243,080</a:t>
            </a:r>
            <a:r>
              <a:rPr lang="en-US" sz="2400" dirty="0"/>
              <a:t> to </a:t>
            </a:r>
            <a:r>
              <a:rPr lang="en-US" sz="2400" b="1" dirty="0"/>
              <a:t>$247,055</a:t>
            </a:r>
            <a:r>
              <a:rPr lang="en-US" sz="2400" dirty="0"/>
              <a:t>, showing modest improvement.</a:t>
            </a:r>
          </a:p>
          <a:p>
            <a:r>
              <a:rPr lang="en-US" sz="2400" b="1" dirty="0"/>
              <a:t>Gross Margin</a:t>
            </a:r>
            <a:r>
              <a:rPr lang="en-US" sz="2400" dirty="0"/>
              <a:t> declined from </a:t>
            </a:r>
            <a:r>
              <a:rPr lang="en-US" sz="2400" b="1" dirty="0"/>
              <a:t>33.9% (2024)</a:t>
            </a:r>
            <a:r>
              <a:rPr lang="en-US" sz="2400" dirty="0"/>
              <a:t> to </a:t>
            </a:r>
            <a:r>
              <a:rPr lang="en-US" sz="2400" b="1" dirty="0"/>
              <a:t>31.7% (2025)</a:t>
            </a:r>
            <a:r>
              <a:rPr lang="en-US" sz="2400" dirty="0"/>
              <a:t>, suggesting higher Cost of Goods Sold relative to sales.</a:t>
            </a:r>
          </a:p>
          <a:p>
            <a:r>
              <a:rPr lang="en-US" sz="2400" b="1" dirty="0"/>
              <a:t>Total Expenses</a:t>
            </a:r>
            <a:r>
              <a:rPr lang="en-US" sz="2400" dirty="0"/>
              <a:t> increased from </a:t>
            </a:r>
            <a:r>
              <a:rPr lang="en-US" sz="2400" b="1" dirty="0"/>
              <a:t>$111,309</a:t>
            </a:r>
            <a:r>
              <a:rPr lang="en-US" sz="2400" dirty="0"/>
              <a:t> to </a:t>
            </a:r>
            <a:r>
              <a:rPr lang="en-US" sz="2400" b="1" dirty="0"/>
              <a:t>$114,936</a:t>
            </a:r>
            <a:r>
              <a:rPr lang="en-US" sz="2400" dirty="0"/>
              <a:t>, driven mainly by marketing and operating costs.</a:t>
            </a:r>
          </a:p>
          <a:p>
            <a:r>
              <a:rPr lang="en-US" sz="2400" b="1" dirty="0"/>
              <a:t>Net Earnings</a:t>
            </a:r>
            <a:r>
              <a:rPr lang="en-US" sz="2400" dirty="0"/>
              <a:t> remained almost flat, increasing marginally from </a:t>
            </a:r>
            <a:r>
              <a:rPr lang="en-US" sz="2400" b="1" dirty="0"/>
              <a:t>$104,099</a:t>
            </a:r>
            <a:r>
              <a:rPr lang="en-US" sz="2400" dirty="0"/>
              <a:t> to </a:t>
            </a:r>
            <a:r>
              <a:rPr lang="en-US" sz="2400" b="1" dirty="0"/>
              <a:t>$104,374</a:t>
            </a:r>
            <a:r>
              <a:rPr lang="en-US" sz="2400" dirty="0"/>
              <a:t>, indicating that higher revenues did not translate into higher profitability.</a:t>
            </a:r>
          </a:p>
          <a:p>
            <a:r>
              <a:rPr lang="en-US" sz="2400" b="1" dirty="0"/>
              <a:t>EBIT</a:t>
            </a:r>
            <a:r>
              <a:rPr lang="en-US" sz="2400" dirty="0"/>
              <a:t> and </a:t>
            </a:r>
            <a:r>
              <a:rPr lang="en-US" sz="2400" b="1" dirty="0"/>
              <a:t>EBITDA</a:t>
            </a:r>
            <a:r>
              <a:rPr lang="en-US" sz="2400" dirty="0"/>
              <a:t> were relatively stable:</a:t>
            </a:r>
          </a:p>
          <a:p>
            <a:pPr lvl="1"/>
            <a:r>
              <a:rPr lang="en-US" sz="2400" b="1" dirty="0"/>
              <a:t>EBIT:</a:t>
            </a:r>
            <a:r>
              <a:rPr lang="en-US" sz="2400" dirty="0"/>
              <a:t> $146,934 → $147,005</a:t>
            </a:r>
          </a:p>
          <a:p>
            <a:pPr lvl="1"/>
            <a:r>
              <a:rPr lang="en-US" sz="2400" b="1" dirty="0"/>
              <a:t>EBITDA:</a:t>
            </a:r>
            <a:r>
              <a:rPr lang="en-US" sz="2400" dirty="0"/>
              <a:t> $147,534 → $147,605</a:t>
            </a:r>
          </a:p>
          <a:p>
            <a:pPr marL="495300" lvl="1" indent="0">
              <a:buNone/>
            </a:pPr>
            <a:r>
              <a:rPr lang="en-US" sz="2400" dirty="0"/>
              <a:t>Stable EBIT and EBITDA suggest consistent core operations, but limited margin expansion.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CB4C5658-652A-8014-89B6-24F6018EF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06DC0362-3418-D06B-F16E-81B50C650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Company Financials</a:t>
            </a:r>
            <a:endParaRPr sz="6400" dirty="0"/>
          </a:p>
        </p:txBody>
      </p: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CAD819CB-AEF3-53B3-AEF8-DC0B2D449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800" b="1" dirty="0"/>
              <a:t>While the company experienced revenue growth, rising costs and declining margins limited improvements in overall profitability.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5331959-1BD8-4CB3-A38E-6DA68E1563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4482559"/>
              </p:ext>
            </p:extLst>
          </p:nvPr>
        </p:nvGraphicFramePr>
        <p:xfrm>
          <a:off x="4030435" y="3069770"/>
          <a:ext cx="10227129" cy="5823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0910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9995F88A-B178-F2F4-F81C-F7D145BD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7D32D91D-40FB-5D03-E322-9AB5AF6FA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dirty="0"/>
              <a:t>Company Financials</a:t>
            </a:r>
            <a:endParaRPr sz="6400" dirty="0"/>
          </a:p>
        </p:txBody>
      </p: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58ADD0EC-199F-124B-ABD5-877909533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800" b="1" dirty="0"/>
              <a:t>What the numbers suggest:</a:t>
            </a:r>
            <a:endParaRPr lang="en-US" sz="2800" dirty="0"/>
          </a:p>
          <a:p>
            <a:r>
              <a:rPr lang="en-US" sz="2800" dirty="0"/>
              <a:t>Sales growth alone is </a:t>
            </a:r>
            <a:r>
              <a:rPr lang="en-US" sz="2800" b="1" dirty="0"/>
              <a:t>not sufficient</a:t>
            </a:r>
            <a:r>
              <a:rPr lang="en-US" sz="2800" dirty="0"/>
              <a:t> to improve profitability without effective cost control.</a:t>
            </a:r>
          </a:p>
          <a:p>
            <a:r>
              <a:rPr lang="en-US" sz="2800" dirty="0"/>
              <a:t>Rising COGS is the </a:t>
            </a:r>
            <a:r>
              <a:rPr lang="en-US" sz="2800" b="1" dirty="0"/>
              <a:t>primary driver</a:t>
            </a:r>
            <a:r>
              <a:rPr lang="en-US" sz="2800" dirty="0"/>
              <a:t> of declining margins.</a:t>
            </a:r>
          </a:p>
          <a:p>
            <a:r>
              <a:rPr lang="en-US" sz="2800" dirty="0"/>
              <a:t>Marketing investments may be increasing demand but need better ROI tracking.</a:t>
            </a:r>
          </a:p>
          <a:p>
            <a:r>
              <a:rPr lang="en-US" sz="2800" dirty="0"/>
              <a:t>Without margin improvement, future revenue growth will continue to yield </a:t>
            </a:r>
            <a:r>
              <a:rPr lang="en-US" sz="2800" b="1" dirty="0"/>
              <a:t>flat net earnings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Strategic Implication for 2026:</a:t>
            </a:r>
            <a:endParaRPr lang="en-US" sz="2800" dirty="0"/>
          </a:p>
          <a:p>
            <a:r>
              <a:rPr lang="en-US" sz="2800" dirty="0"/>
              <a:t>Improving gross margin by even </a:t>
            </a:r>
            <a:r>
              <a:rPr lang="en-US" sz="2800" b="1" dirty="0"/>
              <a:t>1–2%</a:t>
            </a:r>
            <a:r>
              <a:rPr lang="en-US" sz="2800" dirty="0"/>
              <a:t> could significantly increase net earnings without requiring additional sales growth.</a:t>
            </a:r>
          </a:p>
        </p:txBody>
      </p:sp>
    </p:spTree>
    <p:extLst>
      <p:ext uri="{BB962C8B-B14F-4D97-AF65-F5344CB8AC3E}">
        <p14:creationId xmlns:p14="http://schemas.microsoft.com/office/powerpoint/2010/main" val="86377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Product Performance</a:t>
            </a:r>
            <a:endParaRPr sz="6400"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b="1" dirty="0"/>
              <a:t>Units Sold (2024 vs 2025):</a:t>
            </a:r>
            <a:endParaRPr lang="en-US" sz="2800" dirty="0"/>
          </a:p>
          <a:p>
            <a:r>
              <a:rPr lang="en-US" sz="2800" b="1" dirty="0"/>
              <a:t>Product 3</a:t>
            </a:r>
            <a:r>
              <a:rPr lang="en-US" sz="2800" dirty="0"/>
              <a:t> remained the top-selling product in both years:</a:t>
            </a:r>
          </a:p>
          <a:p>
            <a:pPr lvl="1"/>
            <a:r>
              <a:rPr lang="en-US" sz="2400" dirty="0"/>
              <a:t>2024: ~80,456 units</a:t>
            </a:r>
          </a:p>
          <a:p>
            <a:pPr lvl="1"/>
            <a:r>
              <a:rPr lang="en-US" sz="2400" dirty="0"/>
              <a:t>2025: ~88,872 units (</a:t>
            </a:r>
            <a:r>
              <a:rPr lang="en-US" sz="2400" b="1" dirty="0"/>
              <a:t>strong growth</a:t>
            </a:r>
            <a:r>
              <a:rPr lang="en-US" sz="2400" dirty="0"/>
              <a:t>)</a:t>
            </a:r>
          </a:p>
          <a:p>
            <a:r>
              <a:rPr lang="en-US" sz="2800" b="1" dirty="0"/>
              <a:t>Product 1</a:t>
            </a:r>
            <a:r>
              <a:rPr lang="en-US" sz="2800" dirty="0"/>
              <a:t> showed steady growth:</a:t>
            </a:r>
          </a:p>
          <a:p>
            <a:pPr lvl="1"/>
            <a:r>
              <a:rPr lang="en-US" sz="2400" dirty="0"/>
              <a:t>2024: ~33,816 → 2025: ~37,844 units</a:t>
            </a:r>
          </a:p>
          <a:p>
            <a:r>
              <a:rPr lang="en-US" sz="2800" b="1" dirty="0"/>
              <a:t>Product 2</a:t>
            </a:r>
            <a:r>
              <a:rPr lang="en-US" sz="2800" dirty="0"/>
              <a:t> experienced a decline in units sold:</a:t>
            </a:r>
          </a:p>
          <a:p>
            <a:pPr lvl="1"/>
            <a:r>
              <a:rPr lang="en-US" sz="2400" dirty="0"/>
              <a:t>2024: ~3,634 → 2025: ~2,798 units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286373-0595-4D5F-8A4E-4FA0DCAE5D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914372"/>
              </p:ext>
            </p:extLst>
          </p:nvPr>
        </p:nvGraphicFramePr>
        <p:xfrm>
          <a:off x="9909628" y="3275848"/>
          <a:ext cx="7170022" cy="4921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B88E681F-C250-C5AA-C582-1AF53DB3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>
            <a:extLst>
              <a:ext uri="{FF2B5EF4-FFF2-40B4-BE49-F238E27FC236}">
                <a16:creationId xmlns:a16="http://schemas.microsoft.com/office/drawing/2014/main" id="{30F3BE34-E076-A72C-7F5F-E3DC53107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Product Performance</a:t>
            </a:r>
            <a:endParaRPr sz="6400"/>
          </a:p>
        </p:txBody>
      </p:sp>
      <p:sp>
        <p:nvSpPr>
          <p:cNvPr id="136" name="Google Shape;136;p17">
            <a:extLst>
              <a:ext uri="{FF2B5EF4-FFF2-40B4-BE49-F238E27FC236}">
                <a16:creationId xmlns:a16="http://schemas.microsoft.com/office/drawing/2014/main" id="{1D0B91C7-DB84-E567-66BC-46BC54B0D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800" b="1" dirty="0"/>
              <a:t>Average Daily Profit by Product:</a:t>
            </a:r>
            <a:endParaRPr lang="en-US" sz="2800" dirty="0"/>
          </a:p>
          <a:p>
            <a:r>
              <a:rPr lang="en-US" sz="2400" b="1" dirty="0"/>
              <a:t>Product 1:</a:t>
            </a:r>
            <a:r>
              <a:rPr lang="en-US" sz="2400" dirty="0"/>
              <a:t> increased from </a:t>
            </a:r>
            <a:r>
              <a:rPr lang="en-US" sz="2400" b="1" dirty="0"/>
              <a:t>$362.93</a:t>
            </a:r>
            <a:r>
              <a:rPr lang="en-US" sz="2400" dirty="0"/>
              <a:t> to </a:t>
            </a:r>
            <a:r>
              <a:rPr lang="en-US" sz="2400" b="1" dirty="0"/>
              <a:t>$422.95</a:t>
            </a:r>
            <a:r>
              <a:rPr lang="en-US" sz="2400" dirty="0"/>
              <a:t>, showing strong profitability improvement.</a:t>
            </a:r>
          </a:p>
          <a:p>
            <a:r>
              <a:rPr lang="en-US" sz="2400" b="1" dirty="0"/>
              <a:t>Product 2:</a:t>
            </a:r>
            <a:r>
              <a:rPr lang="en-US" sz="2400" dirty="0"/>
              <a:t> increased from </a:t>
            </a:r>
            <a:r>
              <a:rPr lang="en-US" sz="2400" b="1" dirty="0"/>
              <a:t>$63.49</a:t>
            </a:r>
            <a:r>
              <a:rPr lang="en-US" sz="2400" dirty="0"/>
              <a:t> to </a:t>
            </a:r>
            <a:r>
              <a:rPr lang="en-US" sz="2400" b="1" dirty="0"/>
              <a:t>$83.37</a:t>
            </a:r>
            <a:r>
              <a:rPr lang="en-US" sz="2400" dirty="0"/>
              <a:t>, despite lower sales volume, possibly due to higher pricing.</a:t>
            </a:r>
          </a:p>
          <a:p>
            <a:r>
              <a:rPr lang="en-US" sz="2400" b="1" dirty="0"/>
              <a:t>Product 3:</a:t>
            </a:r>
            <a:r>
              <a:rPr lang="en-US" sz="2400" dirty="0"/>
              <a:t> decreased from </a:t>
            </a:r>
            <a:r>
              <a:rPr lang="en-US" sz="2400" b="1" dirty="0"/>
              <a:t>$62.90</a:t>
            </a:r>
            <a:r>
              <a:rPr lang="en-US" sz="2400" dirty="0"/>
              <a:t> to </a:t>
            </a:r>
            <a:r>
              <a:rPr lang="en-US" sz="2400" b="1" dirty="0"/>
              <a:t>$38.91</a:t>
            </a:r>
            <a:r>
              <a:rPr lang="en-US" sz="2400" dirty="0"/>
              <a:t>, indicating margin pressure despite higher sales volume.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CC54DDB-0004-490B-AB2D-0D3DAB7DC0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319340"/>
              </p:ext>
            </p:extLst>
          </p:nvPr>
        </p:nvGraphicFramePr>
        <p:xfrm>
          <a:off x="1337414" y="3914340"/>
          <a:ext cx="7545336" cy="4844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FA9015-545E-0E72-FB2D-0B870B734BE3}"/>
              </a:ext>
            </a:extLst>
          </p:cNvPr>
          <p:cNvSpPr txBox="1"/>
          <p:nvPr/>
        </p:nvSpPr>
        <p:spPr>
          <a:xfrm>
            <a:off x="9144000" y="5046454"/>
            <a:ext cx="69124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Higher sales volume does not always lead to higher profit. Product 3’s declining profitability suggests pricing or cost efficiency issues.</a:t>
            </a:r>
          </a:p>
        </p:txBody>
      </p:sp>
    </p:spTree>
    <p:extLst>
      <p:ext uri="{BB962C8B-B14F-4D97-AF65-F5344CB8AC3E}">
        <p14:creationId xmlns:p14="http://schemas.microsoft.com/office/powerpoint/2010/main" val="263408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F6438D2B-72B8-4B8D-C671-2D738920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>
            <a:extLst>
              <a:ext uri="{FF2B5EF4-FFF2-40B4-BE49-F238E27FC236}">
                <a16:creationId xmlns:a16="http://schemas.microsoft.com/office/drawing/2014/main" id="{1D5B4FB8-598B-A220-292F-D5C71B1CD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Product Performance</a:t>
            </a:r>
            <a:endParaRPr sz="6400"/>
          </a:p>
        </p:txBody>
      </p:sp>
      <p:sp>
        <p:nvSpPr>
          <p:cNvPr id="136" name="Google Shape;136;p17">
            <a:extLst>
              <a:ext uri="{FF2B5EF4-FFF2-40B4-BE49-F238E27FC236}">
                <a16:creationId xmlns:a16="http://schemas.microsoft.com/office/drawing/2014/main" id="{79339B2D-B7A8-79E1-CA93-DF77F63DD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400" b="1" dirty="0"/>
              <a:t>Most Sold Product: Product 3</a:t>
            </a:r>
            <a:endParaRPr lang="en-US" sz="2400" dirty="0"/>
          </a:p>
          <a:p>
            <a:r>
              <a:rPr lang="en-US" sz="2400" b="1" dirty="0"/>
              <a:t>Units Sold (Year-over-Year):</a:t>
            </a:r>
            <a:endParaRPr lang="en-US" sz="2400" dirty="0"/>
          </a:p>
          <a:p>
            <a:r>
              <a:rPr lang="en-US" sz="2400" b="1" dirty="0"/>
              <a:t>2024:</a:t>
            </a:r>
            <a:r>
              <a:rPr lang="en-US" sz="2400" dirty="0"/>
              <a:t> 80,456 units</a:t>
            </a:r>
          </a:p>
          <a:p>
            <a:r>
              <a:rPr lang="en-US" sz="2400" b="1" dirty="0"/>
              <a:t>2025:</a:t>
            </a:r>
            <a:r>
              <a:rPr lang="en-US" sz="2400" dirty="0"/>
              <a:t> 88,872 units</a:t>
            </a:r>
          </a:p>
          <a:p>
            <a:r>
              <a:rPr lang="en-US" sz="2400" b="1" dirty="0"/>
              <a:t>Growth:</a:t>
            </a:r>
            <a:r>
              <a:rPr lang="en-US" sz="2400" dirty="0"/>
              <a:t> +8,416 units (</a:t>
            </a:r>
            <a:r>
              <a:rPr lang="en-US" sz="2400" b="1" dirty="0"/>
              <a:t>+10%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Product 3 was the </a:t>
            </a:r>
            <a:r>
              <a:rPr lang="en-US" sz="2400" b="1" dirty="0"/>
              <a:t>top-selling product in both 2024 and 2025</a:t>
            </a:r>
            <a:r>
              <a:rPr lang="en-US" sz="2400" dirty="0"/>
              <a:t>, contributing the largest share of total units sold and playing a key role in overall sales growth.</a:t>
            </a:r>
          </a:p>
        </p:txBody>
      </p:sp>
    </p:spTree>
    <p:extLst>
      <p:ext uri="{BB962C8B-B14F-4D97-AF65-F5344CB8AC3E}">
        <p14:creationId xmlns:p14="http://schemas.microsoft.com/office/powerpoint/2010/main" val="2481065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04886DD-A7E3-EEA8-53A8-C5F0CCEB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>
            <a:extLst>
              <a:ext uri="{FF2B5EF4-FFF2-40B4-BE49-F238E27FC236}">
                <a16:creationId xmlns:a16="http://schemas.microsoft.com/office/drawing/2014/main" id="{1B6399F2-3A8A-B5DD-CDCF-555442BCC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Product Performance</a:t>
            </a:r>
            <a:endParaRPr sz="6400"/>
          </a:p>
        </p:txBody>
      </p:sp>
      <p:sp>
        <p:nvSpPr>
          <p:cNvPr id="136" name="Google Shape;136;p17">
            <a:extLst>
              <a:ext uri="{FF2B5EF4-FFF2-40B4-BE49-F238E27FC236}">
                <a16:creationId xmlns:a16="http://schemas.microsoft.com/office/drawing/2014/main" id="{E286A5DC-8A15-8690-C822-42411CCA22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400" b="1" dirty="0"/>
              <a:t>Highest Single-Day Sales:</a:t>
            </a:r>
            <a:endParaRPr lang="en-US" sz="2400" dirty="0"/>
          </a:p>
          <a:p>
            <a:r>
              <a:rPr lang="en-US" sz="2400" b="1" dirty="0"/>
              <a:t>2024:</a:t>
            </a:r>
            <a:r>
              <a:rPr lang="en-US" sz="2400" dirty="0"/>
              <a:t> 249 units sold in a single day</a:t>
            </a:r>
          </a:p>
          <a:p>
            <a:r>
              <a:rPr lang="en-US" sz="2400" b="1" dirty="0"/>
              <a:t>2025:</a:t>
            </a:r>
            <a:r>
              <a:rPr lang="en-US" sz="2400" dirty="0"/>
              <a:t> 273 units sold in a single day</a:t>
            </a:r>
          </a:p>
          <a:p>
            <a:pPr marL="0" indent="0">
              <a:buNone/>
            </a:pPr>
            <a:r>
              <a:rPr lang="en-US" sz="2400" b="1" dirty="0"/>
              <a:t>Increase:</a:t>
            </a:r>
            <a:r>
              <a:rPr lang="en-US" sz="2400" dirty="0"/>
              <a:t> +24 units</a:t>
            </a:r>
          </a:p>
          <a:p>
            <a:pPr marL="0" indent="0">
              <a:buNone/>
            </a:pPr>
            <a:r>
              <a:rPr lang="en-US" sz="2400" dirty="0"/>
              <a:t>This indicates strong peak demand and consistent customer interest in Product 3 across both years.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Profitability Insight:</a:t>
            </a:r>
            <a:endParaRPr lang="en-US" sz="2400" dirty="0"/>
          </a:p>
          <a:p>
            <a:r>
              <a:rPr lang="en-US" sz="2400" b="1" dirty="0"/>
              <a:t>Average Daily Profit (2024):</a:t>
            </a:r>
            <a:r>
              <a:rPr lang="en-US" sz="2400" dirty="0"/>
              <a:t> $62.90</a:t>
            </a:r>
          </a:p>
          <a:p>
            <a:r>
              <a:rPr lang="en-US" sz="2400" b="1" dirty="0"/>
              <a:t>Average Daily Profit (2025):</a:t>
            </a:r>
            <a:r>
              <a:rPr lang="en-US" sz="2400" dirty="0"/>
              <a:t> $38.91</a:t>
            </a:r>
          </a:p>
          <a:p>
            <a:pPr marL="0" indent="0">
              <a:buNone/>
            </a:pPr>
            <a:r>
              <a:rPr lang="en-US" sz="2400" dirty="0"/>
              <a:t>Despite higher sales volume, </a:t>
            </a:r>
            <a:r>
              <a:rPr lang="en-US" sz="2400" b="1" dirty="0"/>
              <a:t>average daily profit declined in 2025</a:t>
            </a:r>
            <a:r>
              <a:rPr lang="en-US" sz="2400" dirty="0"/>
              <a:t>, suggesting margin pressure due to pricing strategies, higher costs, or promotional discounts.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Product 3 drives sales volume but shows declining profitability, making it a critical focus area for margin optimization.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28513A-6D7D-C90B-B57F-BCA64A573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284581"/>
              </p:ext>
            </p:extLst>
          </p:nvPr>
        </p:nvGraphicFramePr>
        <p:xfrm>
          <a:off x="10286057" y="1697222"/>
          <a:ext cx="6793593" cy="162197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4646">
                  <a:extLst>
                    <a:ext uri="{9D8B030D-6E8A-4147-A177-3AD203B41FA5}">
                      <a16:colId xmlns:a16="http://schemas.microsoft.com/office/drawing/2014/main" val="3448162396"/>
                    </a:ext>
                  </a:extLst>
                </a:gridCol>
                <a:gridCol w="1714421">
                  <a:extLst>
                    <a:ext uri="{9D8B030D-6E8A-4147-A177-3AD203B41FA5}">
                      <a16:colId xmlns:a16="http://schemas.microsoft.com/office/drawing/2014/main" val="2272748360"/>
                    </a:ext>
                  </a:extLst>
                </a:gridCol>
                <a:gridCol w="1682376">
                  <a:extLst>
                    <a:ext uri="{9D8B030D-6E8A-4147-A177-3AD203B41FA5}">
                      <a16:colId xmlns:a16="http://schemas.microsoft.com/office/drawing/2014/main" val="2101749540"/>
                    </a:ext>
                  </a:extLst>
                </a:gridCol>
                <a:gridCol w="1522150">
                  <a:extLst>
                    <a:ext uri="{9D8B030D-6E8A-4147-A177-3AD203B41FA5}">
                      <a16:colId xmlns:a16="http://schemas.microsoft.com/office/drawing/2014/main" val="3772795379"/>
                    </a:ext>
                  </a:extLst>
                </a:gridCol>
              </a:tblGrid>
              <a:tr h="324394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Max Units Per Day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767634"/>
                  </a:ext>
                </a:extLst>
              </a:tr>
              <a:tr h="324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Max 2024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Max 2025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Difference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152426"/>
                  </a:ext>
                </a:extLst>
              </a:tr>
              <a:tr h="324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Product 1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103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631619"/>
                  </a:ext>
                </a:extLst>
              </a:tr>
              <a:tr h="324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Product 2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-1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952254"/>
                  </a:ext>
                </a:extLst>
              </a:tr>
              <a:tr h="3243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Product 3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249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273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459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58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Recommendation</a:t>
            </a:r>
            <a:endParaRPr sz="6400"/>
          </a:p>
        </p:txBody>
      </p:sp>
      <p:sp>
        <p:nvSpPr>
          <p:cNvPr id="142" name="Google Shape;142;p18"/>
          <p:cNvSpPr txBox="1">
            <a:spLocks noGrp="1"/>
          </p:cNvSpPr>
          <p:nvPr>
            <p:ph type="body" idx="1"/>
          </p:nvPr>
        </p:nvSpPr>
        <p:spPr>
          <a:xfrm>
            <a:off x="685850" y="1828800"/>
            <a:ext cx="16393800" cy="691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sz="2800" b="1" dirty="0"/>
              <a:t>Actions to Increase Profitability:</a:t>
            </a:r>
            <a:endParaRPr lang="en-US" sz="2800" dirty="0"/>
          </a:p>
          <a:p>
            <a:r>
              <a:rPr lang="en-US" sz="2800" b="1" dirty="0"/>
              <a:t>Optimize pricing and cost structure for Product 3</a:t>
            </a:r>
            <a:r>
              <a:rPr lang="en-US" sz="2800" dirty="0"/>
              <a:t>, as it drives volume but shows declining profit margins.</a:t>
            </a:r>
          </a:p>
          <a:p>
            <a:r>
              <a:rPr lang="en-US" sz="2800" b="1" dirty="0"/>
              <a:t>Increase marketing focus on Product 1</a:t>
            </a:r>
            <a:r>
              <a:rPr lang="en-US" sz="2800" dirty="0"/>
              <a:t>, which demonstrates both sales growth and strong profitability.</a:t>
            </a:r>
          </a:p>
          <a:p>
            <a:r>
              <a:rPr lang="en-US" sz="2800" b="1" dirty="0"/>
              <a:t>Reevaluate Product 2’s role</a:t>
            </a:r>
            <a:r>
              <a:rPr lang="en-US" sz="2800" dirty="0"/>
              <a:t> by assessing whether to reposition, bundle, or limit investment due to declining demand.</a:t>
            </a:r>
          </a:p>
          <a:p>
            <a:r>
              <a:rPr lang="en-US" sz="2800" b="1" dirty="0"/>
              <a:t>Control operating and marketing expenses</a:t>
            </a:r>
            <a:r>
              <a:rPr lang="en-US" sz="2800" dirty="0"/>
              <a:t> to improve margins and ensure revenue growth translates into higher net earnings.</a:t>
            </a:r>
          </a:p>
          <a:p>
            <a:pPr marL="0" indent="0">
              <a:buNone/>
            </a:pPr>
            <a:r>
              <a:rPr lang="en-US" sz="2800" b="1" dirty="0"/>
              <a:t>Expected Outcome: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Improved gross margins, better cost efficiency, and stronger profitability growth in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732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 Mono Light</vt:lpstr>
      <vt:lpstr>Open Sans</vt:lpstr>
      <vt:lpstr>Open Sans Light</vt:lpstr>
      <vt:lpstr>Udacity 2024 Student Template</vt:lpstr>
      <vt:lpstr>Analysis of Profits Ecommerce Company</vt:lpstr>
      <vt:lpstr>Agenda</vt:lpstr>
      <vt:lpstr>Company Financials</vt:lpstr>
      <vt:lpstr>Company Financials</vt:lpstr>
      <vt:lpstr>Company Financials</vt:lpstr>
      <vt:lpstr>Product Performance</vt:lpstr>
      <vt:lpstr>Product Performance</vt:lpstr>
      <vt:lpstr>Product Performance</vt:lpstr>
      <vt:lpstr>Product Performance</vt:lpstr>
      <vt:lpstr>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Duaa Alanazi</dc:creator>
  <cp:lastModifiedBy>ديمه فرحان بن احمد العنزي</cp:lastModifiedBy>
  <cp:revision>2</cp:revision>
  <dcterms:modified xsi:type="dcterms:W3CDTF">2025-12-24T14:23:05Z</dcterms:modified>
</cp:coreProperties>
</file>